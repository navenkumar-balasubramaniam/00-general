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oppins Light" charset="1" panose="00000400000000000000"/>
      <p:regular r:id="rId14"/>
    </p:embeddedFont>
    <p:embeddedFont>
      <p:font typeface="Poppins" charset="1" panose="00000500000000000000"/>
      <p:regular r:id="rId15"/>
    </p:embeddedFont>
    <p:embeddedFont>
      <p:font typeface="Poppins Bold" charset="1" panose="000008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https://blackboard.ie.edu/ultra/courses/_135656_1/outline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6.jpe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14" Target="../media/image28.png" Type="http://schemas.openxmlformats.org/officeDocument/2006/relationships/image"/><Relationship Id="rId15" Target="../media/image29.svg" Type="http://schemas.openxmlformats.org/officeDocument/2006/relationships/image"/><Relationship Id="rId16" Target="../media/image3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3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32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04485" y="2548928"/>
            <a:ext cx="12587979" cy="4332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59"/>
              </a:lnSpc>
            </a:pPr>
            <a:r>
              <a:rPr lang="en-US" sz="129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Telecom Customer Churn Analysis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614052" y="42360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3" y="0"/>
                </a:lnTo>
                <a:lnTo>
                  <a:pt x="7417733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521913" y="2869268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228886" y="6172200"/>
            <a:ext cx="2059114" cy="4114800"/>
          </a:xfrm>
          <a:custGeom>
            <a:avLst/>
            <a:gdLst/>
            <a:ahLst/>
            <a:cxnLst/>
            <a:rect r="r" b="b" t="t" l="l"/>
            <a:pathLst>
              <a:path h="4114800" w="2059114">
                <a:moveTo>
                  <a:pt x="0" y="0"/>
                </a:moveTo>
                <a:lnTo>
                  <a:pt x="2059114" y="0"/>
                </a:lnTo>
                <a:lnTo>
                  <a:pt x="20591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91032" y="6948207"/>
            <a:ext cx="7609568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  <a:hlinkClick r:id="rId6" tooltip="https://blackboard.ie.edu/ultra/courses/_135656_1/outline"/>
              </a:rPr>
              <a:t>MODERN DATA ARCHITECTURES FOR BIG DATA 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91032" y="7526767"/>
            <a:ext cx="7609568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Group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8700" y="82296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0331" y="1785908"/>
            <a:ext cx="807744" cy="699708"/>
          </a:xfrm>
          <a:custGeom>
            <a:avLst/>
            <a:gdLst/>
            <a:ahLst/>
            <a:cxnLst/>
            <a:rect r="r" b="b" t="t" l="l"/>
            <a:pathLst>
              <a:path h="699708" w="807744">
                <a:moveTo>
                  <a:pt x="0" y="0"/>
                </a:moveTo>
                <a:lnTo>
                  <a:pt x="807744" y="0"/>
                </a:lnTo>
                <a:lnTo>
                  <a:pt x="807744" y="699708"/>
                </a:lnTo>
                <a:lnTo>
                  <a:pt x="0" y="6997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4693845"/>
            <a:ext cx="807744" cy="606818"/>
          </a:xfrm>
          <a:custGeom>
            <a:avLst/>
            <a:gdLst/>
            <a:ahLst/>
            <a:cxnLst/>
            <a:rect r="r" b="b" t="t" l="l"/>
            <a:pathLst>
              <a:path h="606818" w="807744">
                <a:moveTo>
                  <a:pt x="0" y="0"/>
                </a:moveTo>
                <a:lnTo>
                  <a:pt x="807744" y="0"/>
                </a:lnTo>
                <a:lnTo>
                  <a:pt x="807744" y="606818"/>
                </a:lnTo>
                <a:lnTo>
                  <a:pt x="0" y="6068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971712" y="2138126"/>
            <a:ext cx="8676078" cy="159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69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Problem Context &amp; Dataset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99273" y="1903534"/>
            <a:ext cx="6748564" cy="309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Dataset obtained from a Coursera telecom customer churn case study.</a:t>
            </a:r>
          </a:p>
          <a:p>
            <a:pPr algn="l" marL="388622" indent="-194311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Contains </a:t>
            </a:r>
            <a:r>
              <a:rPr lang="en-US" b="true" sz="1800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 demographics, service features, account details, and the churn indicator (Yes/No)</a:t>
            </a: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</a:p>
          <a:p>
            <a:pPr algn="l" marL="388622" indent="-194311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Includes both categorical and numerical variables suitable for predictive modeling.</a:t>
            </a:r>
          </a:p>
          <a:p>
            <a:pPr algn="l" marL="388622" indent="-194311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Provides a practical basis for analyzing churn behavior and building classification models.</a:t>
            </a:r>
          </a:p>
          <a:p>
            <a:pPr algn="l">
              <a:lnSpc>
                <a:spcPts val="27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99273" y="1324663"/>
            <a:ext cx="3022225" cy="35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 Source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49250" y="4617645"/>
            <a:ext cx="6822720" cy="4122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2700"/>
              </a:lnSpc>
              <a:buFont typeface="Arial"/>
              <a:buChar char="•"/>
            </a:pPr>
            <a:r>
              <a:rPr lang="en-US" b="true" sz="1800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 churn</a:t>
            </a: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is a significant challenge in the </a:t>
            </a:r>
            <a:r>
              <a:rPr lang="en-US" b="true" sz="1800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telecom</a:t>
            </a: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industry, where retaining customers is more cost-effective than acquiring new ones.</a:t>
            </a:r>
          </a:p>
          <a:p>
            <a:pPr algn="l" marL="388622" indent="-194311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objective is to build a</a:t>
            </a:r>
            <a:r>
              <a:rPr lang="en-US" b="true" sz="1800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 decision tree</a:t>
            </a: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model to predict which customers are likely to churn.</a:t>
            </a:r>
          </a:p>
          <a:p>
            <a:pPr algn="l" marL="388622" indent="-194311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project focuses on identifying </a:t>
            </a:r>
            <a:r>
              <a:rPr lang="en-US" b="true" sz="1800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key churn drivers</a:t>
            </a: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using customer demographics, service usage patterns, and account information.</a:t>
            </a:r>
          </a:p>
          <a:p>
            <a:pPr algn="l" marL="388622" indent="-194311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Steps include data cleaning, feature engineering, model training, and performance evaluation.</a:t>
            </a:r>
          </a:p>
          <a:p>
            <a:pPr algn="l" marL="388622" indent="-194311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outcome supports proactive retention strategies and data-driven decision making.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4248" y="4075482"/>
            <a:ext cx="3022225" cy="35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Why This Matters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674789" y="1947626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3" y="0"/>
                </a:lnTo>
                <a:lnTo>
                  <a:pt x="7417733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759538" y="-1573104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99273" y="4997254"/>
            <a:ext cx="4708489" cy="4968626"/>
          </a:xfrm>
          <a:custGeom>
            <a:avLst/>
            <a:gdLst/>
            <a:ahLst/>
            <a:cxnLst/>
            <a:rect r="r" b="b" t="t" l="l"/>
            <a:pathLst>
              <a:path h="4968626" w="4708489">
                <a:moveTo>
                  <a:pt x="0" y="0"/>
                </a:moveTo>
                <a:lnTo>
                  <a:pt x="4708489" y="0"/>
                </a:lnTo>
                <a:lnTo>
                  <a:pt x="4708489" y="4968626"/>
                </a:lnTo>
                <a:lnTo>
                  <a:pt x="0" y="496862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88578" y="5046477"/>
            <a:ext cx="664125" cy="447454"/>
          </a:xfrm>
          <a:custGeom>
            <a:avLst/>
            <a:gdLst/>
            <a:ahLst/>
            <a:cxnLst/>
            <a:rect r="r" b="b" t="t" l="l"/>
            <a:pathLst>
              <a:path h="447454" w="664125">
                <a:moveTo>
                  <a:pt x="0" y="0"/>
                </a:moveTo>
                <a:lnTo>
                  <a:pt x="664125" y="0"/>
                </a:lnTo>
                <a:lnTo>
                  <a:pt x="664125" y="447454"/>
                </a:lnTo>
                <a:lnTo>
                  <a:pt x="0" y="447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88578" y="5827306"/>
            <a:ext cx="664125" cy="447454"/>
          </a:xfrm>
          <a:custGeom>
            <a:avLst/>
            <a:gdLst/>
            <a:ahLst/>
            <a:cxnLst/>
            <a:rect r="r" b="b" t="t" l="l"/>
            <a:pathLst>
              <a:path h="447454" w="664125">
                <a:moveTo>
                  <a:pt x="0" y="0"/>
                </a:moveTo>
                <a:lnTo>
                  <a:pt x="664125" y="0"/>
                </a:lnTo>
                <a:lnTo>
                  <a:pt x="664125" y="447454"/>
                </a:lnTo>
                <a:lnTo>
                  <a:pt x="0" y="4474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88578" y="6608135"/>
            <a:ext cx="664125" cy="447454"/>
          </a:xfrm>
          <a:custGeom>
            <a:avLst/>
            <a:gdLst/>
            <a:ahLst/>
            <a:cxnLst/>
            <a:rect r="r" b="b" t="t" l="l"/>
            <a:pathLst>
              <a:path h="447454" w="664125">
                <a:moveTo>
                  <a:pt x="0" y="0"/>
                </a:moveTo>
                <a:lnTo>
                  <a:pt x="664125" y="0"/>
                </a:lnTo>
                <a:lnTo>
                  <a:pt x="664125" y="447454"/>
                </a:lnTo>
                <a:lnTo>
                  <a:pt x="0" y="447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294582" y="4218937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186665" y="-173403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655686" y="-4702978"/>
            <a:ext cx="8598117" cy="859811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38888" t="0" r="-38888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5909631" y="9258300"/>
            <a:ext cx="2378369" cy="2378369"/>
          </a:xfrm>
          <a:custGeom>
            <a:avLst/>
            <a:gdLst/>
            <a:ahLst/>
            <a:cxnLst/>
            <a:rect r="r" b="b" t="t" l="l"/>
            <a:pathLst>
              <a:path h="2378369" w="2378369">
                <a:moveTo>
                  <a:pt x="0" y="0"/>
                </a:moveTo>
                <a:lnTo>
                  <a:pt x="2378369" y="0"/>
                </a:lnTo>
                <a:lnTo>
                  <a:pt x="2378369" y="2378369"/>
                </a:lnTo>
                <a:lnTo>
                  <a:pt x="0" y="23783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991561" y="7386022"/>
            <a:ext cx="664125" cy="447454"/>
          </a:xfrm>
          <a:custGeom>
            <a:avLst/>
            <a:gdLst/>
            <a:ahLst/>
            <a:cxnLst/>
            <a:rect r="r" b="b" t="t" l="l"/>
            <a:pathLst>
              <a:path h="447454" w="664125">
                <a:moveTo>
                  <a:pt x="0" y="0"/>
                </a:moveTo>
                <a:lnTo>
                  <a:pt x="664125" y="0"/>
                </a:lnTo>
                <a:lnTo>
                  <a:pt x="664125" y="447454"/>
                </a:lnTo>
                <a:lnTo>
                  <a:pt x="0" y="4474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01062" y="2145382"/>
            <a:ext cx="7644176" cy="239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Prepping the Landing Zone: Mock API-Based Ingestion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1062" y="5244377"/>
            <a:ext cx="6881577" cy="2750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Loads the raw dataset from a CSV file using pandas.</a:t>
            </a:r>
          </a:p>
          <a:p>
            <a:pPr algn="l" marL="388622" indent="-194311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Starts a lightweight </a:t>
            </a:r>
            <a:r>
              <a:rPr lang="en-US" b="true" sz="1800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Flask web server running locally</a:t>
            </a: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</a:p>
          <a:p>
            <a:pPr algn="l" marL="388622" indent="-194311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Converts the entire DataFrame into a list of </a:t>
            </a:r>
            <a:r>
              <a:rPr lang="en-US" b="true" sz="1800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JSON </a:t>
            </a: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records.</a:t>
            </a:r>
          </a:p>
          <a:p>
            <a:pPr algn="l" marL="388622" indent="-194311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Exposes the dataset through an </a:t>
            </a:r>
            <a:r>
              <a:rPr lang="en-US" b="true" sz="1800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HTTP endpoint</a:t>
            </a: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:             GET /data → returns the CSV data as JSON</a:t>
            </a:r>
          </a:p>
          <a:p>
            <a:pPr algn="l" marL="388622" indent="-194311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Acts as a </a:t>
            </a:r>
            <a:r>
              <a:rPr lang="en-US" b="true" sz="1800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mock source system</a:t>
            </a: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, similar to how real applications expose data to other systems.</a:t>
            </a:r>
          </a:p>
          <a:p>
            <a:pPr algn="l">
              <a:lnSpc>
                <a:spcPts val="270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999019" y="5075323"/>
            <a:ext cx="6824626" cy="35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51"/>
              </a:lnSpc>
              <a:spcBef>
                <a:spcPct val="0"/>
              </a:spcBef>
            </a:pPr>
            <a:r>
              <a:rPr lang="en-US" sz="2100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Mi</a:t>
            </a:r>
            <a:r>
              <a:rPr lang="en-US" sz="2100" strike="noStrike" u="none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m</a:t>
            </a:r>
            <a:r>
              <a:rPr lang="en-US" sz="2100" strike="noStrike" u="none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ics </a:t>
            </a:r>
            <a:r>
              <a:rPr lang="en-US" sz="2100" strike="noStrike" u="none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re</a:t>
            </a:r>
            <a:r>
              <a:rPr lang="en-US" sz="2100" strike="noStrike" u="none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al</a:t>
            </a:r>
            <a:r>
              <a:rPr lang="en-US" sz="2100" strike="noStrike" u="none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100" strike="noStrike" u="none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syst</a:t>
            </a:r>
            <a:r>
              <a:rPr lang="en-US" sz="2100" strike="noStrike" u="none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e</a:t>
            </a:r>
            <a:r>
              <a:rPr lang="en-US" sz="2100" strike="noStrike" u="none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m</a:t>
            </a:r>
            <a:r>
              <a:rPr lang="en-US" sz="2100" strike="noStrike" u="none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s</a:t>
            </a:r>
            <a:r>
              <a:rPr lang="en-US" sz="2100" strike="noStrike" u="none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 that exp</a:t>
            </a:r>
            <a:r>
              <a:rPr lang="en-US" sz="2100" strike="noStrike" u="none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o</a:t>
            </a:r>
            <a:r>
              <a:rPr lang="en-US" sz="2100" strike="noStrike" u="none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se d</a:t>
            </a:r>
            <a:r>
              <a:rPr lang="en-US" sz="2100" strike="noStrike" u="none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a</a:t>
            </a:r>
            <a:r>
              <a:rPr lang="en-US" sz="2100" strike="noStrike" u="none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ta v</a:t>
            </a:r>
            <a:r>
              <a:rPr lang="en-US" sz="2100" strike="noStrike" u="none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i</a:t>
            </a:r>
            <a:r>
              <a:rPr lang="en-US" sz="2100" strike="noStrike" u="none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a REST APIs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99019" y="5856152"/>
            <a:ext cx="7072739" cy="35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51"/>
              </a:lnSpc>
              <a:spcBef>
                <a:spcPct val="0"/>
              </a:spcBef>
            </a:pPr>
            <a:r>
              <a:rPr lang="en-US" sz="2100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Lets to</a:t>
            </a:r>
            <a:r>
              <a:rPr lang="en-US" sz="2100" strike="noStrike" u="none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ols </a:t>
            </a:r>
            <a:r>
              <a:rPr lang="en-US" sz="2100" strike="noStrike" u="none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lik</a:t>
            </a:r>
            <a:r>
              <a:rPr lang="en-US" sz="2100" strike="noStrike" u="none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e NiFi consume data programmatically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99019" y="6636981"/>
            <a:ext cx="6718292" cy="694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51"/>
              </a:lnSpc>
              <a:spcBef>
                <a:spcPct val="0"/>
              </a:spcBef>
            </a:pPr>
            <a:r>
              <a:rPr lang="en-US" sz="2100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Tu</a:t>
            </a:r>
            <a:r>
              <a:rPr lang="en-US" sz="2100" strike="noStrike" u="none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rn</a:t>
            </a:r>
            <a:r>
              <a:rPr lang="en-US" sz="2100" strike="noStrike" u="none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s</a:t>
            </a:r>
            <a:r>
              <a:rPr lang="en-US" sz="2100" strike="noStrike" u="none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 a static CSV into a dynamic API-based dat</a:t>
            </a:r>
            <a:r>
              <a:rPr lang="en-US" sz="2100" strike="noStrike" u="none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a serv</a:t>
            </a:r>
            <a:r>
              <a:rPr lang="en-US" sz="2100" strike="noStrike" u="none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ice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1062" y="4677621"/>
            <a:ext cx="3022225" cy="35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What the Code Does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73306" y="4358469"/>
            <a:ext cx="5036325" cy="35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Why This Approach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99019" y="7414867"/>
            <a:ext cx="6930960" cy="694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51"/>
              </a:lnSpc>
              <a:spcBef>
                <a:spcPct val="0"/>
              </a:spcBef>
            </a:pPr>
            <a:r>
              <a:rPr lang="en-US" sz="2100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Align</a:t>
            </a:r>
            <a:r>
              <a:rPr lang="en-US" sz="2100" strike="noStrike" u="none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s</a:t>
            </a:r>
            <a:r>
              <a:rPr lang="en-US" sz="2100" strike="noStrike" u="none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100" strike="noStrike" u="none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t</a:t>
            </a:r>
            <a:r>
              <a:rPr lang="en-US" sz="2100" strike="noStrike" u="none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he</a:t>
            </a:r>
            <a:r>
              <a:rPr lang="en-US" sz="2100" strike="noStrike" u="none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100" strike="noStrike" u="none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proj</a:t>
            </a:r>
            <a:r>
              <a:rPr lang="en-US" sz="2100" strike="noStrike" u="none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ect</a:t>
            </a:r>
            <a:r>
              <a:rPr lang="en-US" sz="2100" strike="noStrike" u="none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 w</a:t>
            </a:r>
            <a:r>
              <a:rPr lang="en-US" sz="2100" strike="noStrike" u="none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ith modern, API-driven data architectures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16762" y="2779947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3"/>
                </a:lnTo>
                <a:lnTo>
                  <a:pt x="0" y="7417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80166" y="-2326049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28700" y="82296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259300" y="3456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8426" y="5764181"/>
            <a:ext cx="7698280" cy="3050443"/>
          </a:xfrm>
          <a:custGeom>
            <a:avLst/>
            <a:gdLst/>
            <a:ahLst/>
            <a:cxnLst/>
            <a:rect r="r" b="b" t="t" l="l"/>
            <a:pathLst>
              <a:path h="3050443" w="7698280">
                <a:moveTo>
                  <a:pt x="0" y="0"/>
                </a:moveTo>
                <a:lnTo>
                  <a:pt x="7698280" y="0"/>
                </a:lnTo>
                <a:lnTo>
                  <a:pt x="7698280" y="3050444"/>
                </a:lnTo>
                <a:lnTo>
                  <a:pt x="0" y="30504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455467" y="2189474"/>
            <a:ext cx="7279059" cy="256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How the Ingestion Pipeline Works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55467" y="4890280"/>
            <a:ext cx="7279059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A simple ingestion pipeline that pulls JSON data from a local API,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cleans the content, converts it into structured CSV,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and lands it in an S3 bucket (MinIO in this setup).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97036" y="6679000"/>
            <a:ext cx="5290379" cy="898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Pulls raw JSON data from the Flask API endpoint at regular intervals, serving as the pipeline’s external data source.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97036" y="8385984"/>
            <a:ext cx="5290379" cy="898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Cleans and normalizes the JSON by fixing invalid NaN values, ensuring the data can be parsed correctly downstream.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97036" y="6099394"/>
            <a:ext cx="3022225" cy="35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InvokeHTTP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55467" y="6229062"/>
            <a:ext cx="1032381" cy="872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5"/>
              </a:lnSpc>
            </a:pPr>
            <a:r>
              <a:rPr lang="en-US" sz="5049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54163" y="7942198"/>
            <a:ext cx="1034987" cy="872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5"/>
              </a:lnSpc>
            </a:pPr>
            <a:r>
              <a:rPr lang="en-US" sz="5049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97036" y="7806379"/>
            <a:ext cx="3022225" cy="35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ReplaceText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71572" y="1623276"/>
            <a:ext cx="5290379" cy="1194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Transforms the cleaned JSON into structured CSV format using schema inference and record-based processing. (</a:t>
            </a:r>
            <a:r>
              <a:rPr lang="en-US" sz="1800" b="true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JsonTreeReader, CSVRecordSetWriter</a:t>
            </a: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71572" y="1043671"/>
            <a:ext cx="3022225" cy="35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ConvertRecord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70269" y="3625536"/>
            <a:ext cx="5290379" cy="1489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Writes the transformed CSV into the S3/MinIO landing zone using a date-based folder structure for organized storage.</a:t>
            </a:r>
          </a:p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(</a:t>
            </a:r>
            <a:r>
              <a:rPr lang="en-US" sz="1800" b="true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bronze/customer_experience/yyyy/MM/dd/data.csv</a:t>
            </a: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70269" y="3045930"/>
            <a:ext cx="3022225" cy="35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PutS3Object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0003" y="1187541"/>
            <a:ext cx="1032381" cy="872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5"/>
              </a:lnSpc>
            </a:pPr>
            <a:r>
              <a:rPr lang="en-US" sz="5049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3196901"/>
            <a:ext cx="1032381" cy="872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5"/>
              </a:lnSpc>
            </a:pPr>
            <a:r>
              <a:rPr lang="en-US" sz="5049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25628" y="-874287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80166" y="4967770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9143599" y="2834582"/>
            <a:ext cx="801" cy="568836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5400000">
            <a:off x="17259300" y="7908631"/>
            <a:ext cx="2378369" cy="2378369"/>
          </a:xfrm>
          <a:custGeom>
            <a:avLst/>
            <a:gdLst/>
            <a:ahLst/>
            <a:cxnLst/>
            <a:rect r="r" b="b" t="t" l="l"/>
            <a:pathLst>
              <a:path h="2378369" w="2378369">
                <a:moveTo>
                  <a:pt x="0" y="0"/>
                </a:moveTo>
                <a:lnTo>
                  <a:pt x="2378369" y="0"/>
                </a:lnTo>
                <a:lnTo>
                  <a:pt x="2378369" y="2378369"/>
                </a:lnTo>
                <a:lnTo>
                  <a:pt x="0" y="23783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92583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14732" y="3347578"/>
            <a:ext cx="782484" cy="752163"/>
          </a:xfrm>
          <a:custGeom>
            <a:avLst/>
            <a:gdLst/>
            <a:ahLst/>
            <a:cxnLst/>
            <a:rect r="r" b="b" t="t" l="l"/>
            <a:pathLst>
              <a:path h="752163" w="782484">
                <a:moveTo>
                  <a:pt x="0" y="0"/>
                </a:moveTo>
                <a:lnTo>
                  <a:pt x="782484" y="0"/>
                </a:lnTo>
                <a:lnTo>
                  <a:pt x="782484" y="752163"/>
                </a:lnTo>
                <a:lnTo>
                  <a:pt x="0" y="7521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63306" y="5709812"/>
            <a:ext cx="685336" cy="672486"/>
          </a:xfrm>
          <a:custGeom>
            <a:avLst/>
            <a:gdLst/>
            <a:ahLst/>
            <a:cxnLst/>
            <a:rect r="r" b="b" t="t" l="l"/>
            <a:pathLst>
              <a:path h="672486" w="685336">
                <a:moveTo>
                  <a:pt x="0" y="0"/>
                </a:moveTo>
                <a:lnTo>
                  <a:pt x="685336" y="0"/>
                </a:lnTo>
                <a:lnTo>
                  <a:pt x="685336" y="672485"/>
                </a:lnTo>
                <a:lnTo>
                  <a:pt x="0" y="6724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677400" y="3233451"/>
            <a:ext cx="810853" cy="810853"/>
          </a:xfrm>
          <a:custGeom>
            <a:avLst/>
            <a:gdLst/>
            <a:ahLst/>
            <a:cxnLst/>
            <a:rect r="r" b="b" t="t" l="l"/>
            <a:pathLst>
              <a:path h="810853" w="810853">
                <a:moveTo>
                  <a:pt x="0" y="0"/>
                </a:moveTo>
                <a:lnTo>
                  <a:pt x="810853" y="0"/>
                </a:lnTo>
                <a:lnTo>
                  <a:pt x="810853" y="810853"/>
                </a:lnTo>
                <a:lnTo>
                  <a:pt x="0" y="8108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677400" y="5414626"/>
            <a:ext cx="810853" cy="804772"/>
          </a:xfrm>
          <a:custGeom>
            <a:avLst/>
            <a:gdLst/>
            <a:ahLst/>
            <a:cxnLst/>
            <a:rect r="r" b="b" t="t" l="l"/>
            <a:pathLst>
              <a:path h="804772" w="810853">
                <a:moveTo>
                  <a:pt x="0" y="0"/>
                </a:moveTo>
                <a:lnTo>
                  <a:pt x="810853" y="0"/>
                </a:lnTo>
                <a:lnTo>
                  <a:pt x="810853" y="804772"/>
                </a:lnTo>
                <a:lnTo>
                  <a:pt x="0" y="80477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574124" y="7302214"/>
            <a:ext cx="4346146" cy="2748844"/>
          </a:xfrm>
          <a:custGeom>
            <a:avLst/>
            <a:gdLst/>
            <a:ahLst/>
            <a:cxnLst/>
            <a:rect r="r" b="b" t="t" l="l"/>
            <a:pathLst>
              <a:path h="2748844" w="4346146">
                <a:moveTo>
                  <a:pt x="0" y="0"/>
                </a:moveTo>
                <a:lnTo>
                  <a:pt x="4346146" y="0"/>
                </a:lnTo>
                <a:lnTo>
                  <a:pt x="4346146" y="2748844"/>
                </a:lnTo>
                <a:lnTo>
                  <a:pt x="0" y="274884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920223" y="875248"/>
            <a:ext cx="13601279" cy="97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8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 Preprocessing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34700" y="3575521"/>
            <a:ext cx="5712842" cy="1489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2358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Reviewed unique values across all categorical features.</a:t>
            </a:r>
          </a:p>
          <a:p>
            <a:pPr algn="l" marL="388622" indent="-194311" lvl="1">
              <a:lnSpc>
                <a:spcPts val="2358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Ensured they matched expected business logic</a:t>
            </a:r>
          </a:p>
          <a:p>
            <a:pPr algn="l">
              <a:lnSpc>
                <a:spcPts val="2358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934700" y="5778912"/>
            <a:ext cx="5586802" cy="2375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2358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Checked for missing entries across the dataset.</a:t>
            </a:r>
          </a:p>
          <a:p>
            <a:pPr algn="l" marL="388622" indent="-194311" lvl="1">
              <a:lnSpc>
                <a:spcPts val="2358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Imputed missing numeric values using mean imputation to maintain consistency.</a:t>
            </a:r>
          </a:p>
          <a:p>
            <a:pPr algn="l" marL="388622" indent="-194311" lvl="1">
              <a:lnSpc>
                <a:spcPts val="2358"/>
              </a:lnSpc>
              <a:buFont typeface="Arial"/>
              <a:buChar char="•"/>
            </a:pPr>
            <a:r>
              <a:rPr lang="en-US" sz="1800">
                <a:solidFill>
                  <a:srgbClr val="1800AD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imputer = Imputer(inputCols = col_with_missing_val, outputCols = col_with_missing_val).setStrategy("mean")</a:t>
            </a:r>
          </a:p>
          <a:p>
            <a:pPr algn="l">
              <a:lnSpc>
                <a:spcPts val="2358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2920223" y="3748078"/>
            <a:ext cx="5712842" cy="1489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2" indent="-194311" lvl="1">
              <a:lnSpc>
                <a:spcPts val="2358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All columns were initially strings.</a:t>
            </a:r>
          </a:p>
          <a:p>
            <a:pPr algn="just" marL="388622" indent="-194311" lvl="1">
              <a:lnSpc>
                <a:spcPts val="2358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Converted </a:t>
            </a:r>
            <a:r>
              <a:rPr lang="en-US" b="true" sz="1800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tenure, MonthlyCharges, and TotalCharges</a:t>
            </a: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to double type for analysis and modeling.</a:t>
            </a:r>
          </a:p>
          <a:p>
            <a:pPr algn="just">
              <a:lnSpc>
                <a:spcPts val="2358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964032" y="5849113"/>
            <a:ext cx="5761416" cy="1489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2" indent="-194311" lvl="1">
              <a:lnSpc>
                <a:spcPts val="2358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Plotted histograms of numeric columns to inspect distributions.</a:t>
            </a:r>
          </a:p>
          <a:p>
            <a:pPr algn="just" marL="388622" indent="-194311" lvl="1">
              <a:lnSpc>
                <a:spcPts val="2358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Identified and removed outliers (tenure) to avoid skewing the model.</a:t>
            </a:r>
          </a:p>
          <a:p>
            <a:pPr algn="just">
              <a:lnSpc>
                <a:spcPts val="2358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0934700" y="2995915"/>
            <a:ext cx="4449208" cy="35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Validate Categorical Columns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34700" y="5199307"/>
            <a:ext cx="3970881" cy="35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Handle Missing Values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64032" y="3015782"/>
            <a:ext cx="4722720" cy="35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Convert String Columns to Numeric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964032" y="5199307"/>
            <a:ext cx="3990535" cy="35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Exploratory Data Checks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74242" y="1975980"/>
            <a:ext cx="7139515" cy="603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Created a Spark session to efficiently process large datasets in a distributed environment.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16762" y="2779947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3"/>
                </a:lnTo>
                <a:lnTo>
                  <a:pt x="0" y="7417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80166" y="-2326049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28700" y="82296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259300" y="3456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7467" y="6191548"/>
            <a:ext cx="8291954" cy="2549776"/>
          </a:xfrm>
          <a:custGeom>
            <a:avLst/>
            <a:gdLst/>
            <a:ahLst/>
            <a:cxnLst/>
            <a:rect r="r" b="b" t="t" l="l"/>
            <a:pathLst>
              <a:path h="2549776" w="8291954">
                <a:moveTo>
                  <a:pt x="0" y="0"/>
                </a:moveTo>
                <a:lnTo>
                  <a:pt x="8291955" y="0"/>
                </a:lnTo>
                <a:lnTo>
                  <a:pt x="8291955" y="2549776"/>
                </a:lnTo>
                <a:lnTo>
                  <a:pt x="0" y="25497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455467" y="2019573"/>
            <a:ext cx="7279059" cy="256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Feature Engineering &amp; Model Building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97036" y="5419361"/>
            <a:ext cx="5290379" cy="1194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Used PySpark’s VectorAssembler to combine selected numeric and encoded categorical features into a single feature vector required by MLlib.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98339" y="7421621"/>
            <a:ext cx="5290379" cy="1489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2358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Split the dataset into training and test sets.</a:t>
            </a:r>
          </a:p>
          <a:p>
            <a:pPr algn="l" marL="388622" indent="-194311" lvl="1">
              <a:lnSpc>
                <a:spcPts val="2358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Trained a DecisionTreeClassifier using the assembled feature vector and the churn label.</a:t>
            </a:r>
          </a:p>
          <a:p>
            <a:pPr algn="l">
              <a:lnSpc>
                <a:spcPts val="2358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897036" y="4839756"/>
            <a:ext cx="3022225" cy="35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Vector Assembly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55467" y="4969424"/>
            <a:ext cx="1032381" cy="872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5"/>
              </a:lnSpc>
            </a:pPr>
            <a:r>
              <a:rPr lang="en-US" sz="5049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55467" y="6977835"/>
            <a:ext cx="1034987" cy="872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5"/>
              </a:lnSpc>
            </a:pPr>
            <a:r>
              <a:rPr lang="en-US" sz="5049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98339" y="6842015"/>
            <a:ext cx="4041498" cy="35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Decision Tree Model Training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79674" y="1924323"/>
            <a:ext cx="6299467" cy="385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2358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Evaluated model performance using AUC (Area Under the ROC Curve), which measures the model’s ability to correctly distinguish churn vs. non-churn.</a:t>
            </a:r>
          </a:p>
          <a:p>
            <a:pPr algn="l" marL="388622" indent="-194311" lvl="1">
              <a:lnSpc>
                <a:spcPts val="2358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maxDepth parameter controls how complex the decision tree can become.</a:t>
            </a:r>
          </a:p>
          <a:p>
            <a:pPr algn="l" marL="388622" indent="-194311" lvl="1">
              <a:lnSpc>
                <a:spcPts val="2358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Small maxDepth → underfitting (model too simple).</a:t>
            </a:r>
          </a:p>
          <a:p>
            <a:pPr algn="l" marL="388622" indent="-194311" lvl="1">
              <a:lnSpc>
                <a:spcPts val="2358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Large maxDepth → overfitting (model memorizes training data)</a:t>
            </a:r>
          </a:p>
          <a:p>
            <a:pPr algn="l" marL="388622" indent="-194311" lvl="1">
              <a:lnSpc>
                <a:spcPts val="2358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Tested multiple maxDepth values and plotted train accuracy vs. test accuracy.</a:t>
            </a:r>
          </a:p>
          <a:p>
            <a:pPr algn="l" marL="388622" indent="-194311" lvl="1">
              <a:lnSpc>
                <a:spcPts val="2358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Identified the optimal maxDepth where test accuracy peaks while the gap between training and testing performance remains small.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79674" y="1344717"/>
            <a:ext cx="6030475" cy="35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Model Accuracy &amp; Hyperparameter Tuning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67467" y="1488587"/>
            <a:ext cx="1082968" cy="872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5"/>
              </a:lnSpc>
            </a:pPr>
            <a:r>
              <a:rPr lang="en-US" sz="5049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03</a:t>
            </a:r>
          </a:p>
        </p:txBody>
      </p:sp>
      <p:sp>
        <p:nvSpPr>
          <p:cNvPr name="AutoShape 17" id="17"/>
          <p:cNvSpPr/>
          <p:nvPr/>
        </p:nvSpPr>
        <p:spPr>
          <a:xfrm>
            <a:off x="8026657" y="6817239"/>
            <a:ext cx="234329" cy="0"/>
          </a:xfrm>
          <a:prstGeom prst="line">
            <a:avLst/>
          </a:prstGeom>
          <a:ln cap="flat" w="19050">
            <a:solidFill>
              <a:srgbClr val="FF575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5934" y="1840568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027843" y="8229600"/>
            <a:ext cx="2059114" cy="4114800"/>
          </a:xfrm>
          <a:custGeom>
            <a:avLst/>
            <a:gdLst/>
            <a:ahLst/>
            <a:cxnLst/>
            <a:rect r="r" b="b" t="t" l="l"/>
            <a:pathLst>
              <a:path h="4114800" w="2059114">
                <a:moveTo>
                  <a:pt x="0" y="0"/>
                </a:moveTo>
                <a:lnTo>
                  <a:pt x="2059114" y="0"/>
                </a:lnTo>
                <a:lnTo>
                  <a:pt x="20591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7259300" y="-1189185"/>
            <a:ext cx="2378369" cy="2378369"/>
          </a:xfrm>
          <a:custGeom>
            <a:avLst/>
            <a:gdLst/>
            <a:ahLst/>
            <a:cxnLst/>
            <a:rect r="r" b="b" t="t" l="l"/>
            <a:pathLst>
              <a:path h="2378369" w="2378369">
                <a:moveTo>
                  <a:pt x="0" y="0"/>
                </a:moveTo>
                <a:lnTo>
                  <a:pt x="2378369" y="0"/>
                </a:lnTo>
                <a:lnTo>
                  <a:pt x="2378369" y="2378370"/>
                </a:lnTo>
                <a:lnTo>
                  <a:pt x="0" y="23783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664024" y="6107393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5934" y="2232613"/>
            <a:ext cx="8830583" cy="3112780"/>
          </a:xfrm>
          <a:custGeom>
            <a:avLst/>
            <a:gdLst/>
            <a:ahLst/>
            <a:cxnLst/>
            <a:rect r="r" b="b" t="t" l="l"/>
            <a:pathLst>
              <a:path h="3112780" w="8830583">
                <a:moveTo>
                  <a:pt x="0" y="0"/>
                </a:moveTo>
                <a:lnTo>
                  <a:pt x="8830582" y="0"/>
                </a:lnTo>
                <a:lnTo>
                  <a:pt x="8830582" y="3112780"/>
                </a:lnTo>
                <a:lnTo>
                  <a:pt x="0" y="31127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38138" y="5662360"/>
            <a:ext cx="7935512" cy="2985736"/>
          </a:xfrm>
          <a:custGeom>
            <a:avLst/>
            <a:gdLst/>
            <a:ahLst/>
            <a:cxnLst/>
            <a:rect r="r" b="b" t="t" l="l"/>
            <a:pathLst>
              <a:path h="2985736" w="7935512">
                <a:moveTo>
                  <a:pt x="0" y="0"/>
                </a:moveTo>
                <a:lnTo>
                  <a:pt x="7935512" y="0"/>
                </a:lnTo>
                <a:lnTo>
                  <a:pt x="7935512" y="2985737"/>
                </a:lnTo>
                <a:lnTo>
                  <a:pt x="0" y="298573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243244" y="2165423"/>
            <a:ext cx="7279059" cy="1807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8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Insights from our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36516" y="4153874"/>
            <a:ext cx="7279059" cy="480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We successfully trained a </a:t>
            </a:r>
            <a:r>
              <a:rPr lang="en-US" b="true" sz="1800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Decision Tree model</a:t>
            </a: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that achieved </a:t>
            </a:r>
            <a:r>
              <a:rPr lang="en-US" b="true" sz="1800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~80% accuracy</a:t>
            </a: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on the test dataset.</a:t>
            </a:r>
          </a:p>
          <a:p>
            <a:pPr algn="l" marL="388622" indent="-194311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This model enables the business to identify </a:t>
            </a:r>
            <a:r>
              <a:rPr lang="en-US" b="true" sz="1800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high-risk customers</a:t>
            </a: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who are likely to churn and proactively target them with retention strategies.</a:t>
            </a:r>
          </a:p>
          <a:p>
            <a:pPr algn="l" marL="388622" indent="-194311" lvl="1">
              <a:lnSpc>
                <a:spcPts val="2700"/>
              </a:lnSpc>
              <a:buFont typeface="Arial"/>
              <a:buChar char="•"/>
            </a:pPr>
            <a:r>
              <a:rPr lang="en-US" b="true" sz="1800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 importance analysis</a:t>
            </a: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shows that </a:t>
            </a:r>
            <a:r>
              <a:rPr lang="en-US" b="true" sz="1800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contract type</a:t>
            </a: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is the strongest predictor of churn.</a:t>
            </a:r>
          </a:p>
          <a:p>
            <a:pPr algn="l" marL="388622" indent="-194311" lvl="1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A deeper look reveals that </a:t>
            </a:r>
            <a:r>
              <a:rPr lang="en-US" b="true" sz="1800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monthly contract customers churn significantly</a:t>
            </a: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more than those on yearly contracts.</a:t>
            </a:r>
          </a:p>
          <a:p>
            <a:pPr algn="l" marL="388622" indent="-194311" lvl="1">
              <a:lnSpc>
                <a:spcPts val="2700"/>
              </a:lnSpc>
              <a:buFont typeface="Arial"/>
              <a:buChar char="•"/>
            </a:pPr>
            <a:r>
              <a:rPr lang="en-US" b="true" sz="1800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Recommendation:</a:t>
            </a: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Prioritize retention efforts for monthly-contract customers by offering incentives or converting them to longer-term plans through targeted campaigns and discounts.</a:t>
            </a:r>
          </a:p>
          <a:p>
            <a:pPr algn="l">
              <a:lnSpc>
                <a:spcPts val="27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04485" y="3843126"/>
            <a:ext cx="12587979" cy="22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11"/>
              </a:lnSpc>
            </a:pPr>
            <a:r>
              <a:rPr lang="en-US" sz="18062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04485" y="5612168"/>
            <a:ext cx="13112905" cy="1307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41"/>
              </a:lnSpc>
            </a:pPr>
            <a:r>
              <a:rPr lang="en-US" sz="10416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For Your Attention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925628" y="4375028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37014" y="-741289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029557" y="0"/>
            <a:ext cx="2059114" cy="4114800"/>
          </a:xfrm>
          <a:custGeom>
            <a:avLst/>
            <a:gdLst/>
            <a:ahLst/>
            <a:cxnLst/>
            <a:rect r="r" b="b" t="t" l="l"/>
            <a:pathLst>
              <a:path h="4114800" w="2059114">
                <a:moveTo>
                  <a:pt x="0" y="0"/>
                </a:moveTo>
                <a:lnTo>
                  <a:pt x="2059114" y="0"/>
                </a:lnTo>
                <a:lnTo>
                  <a:pt x="20591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82296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DAG7hQYwkzs</dc:identifier>
  <dcterms:modified xsi:type="dcterms:W3CDTF">2011-08-01T06:04:30Z</dcterms:modified>
  <cp:revision>1</cp:revision>
  <dc:title>Blue Yellow Modern Geometry Data Analytics Presentation</dc:title>
</cp:coreProperties>
</file>